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PPG Bilateral Lending (USD Billion)</c:v>
                </c:pt>
              </c:strCache>
            </c:strRef>
          </c:tx>
          <c:spPr>
            <a:ln w="38100" cap="flat">
              <a:solidFill>
                <a:srgbClr val="00BFA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FAE"/>
              </a:solidFill>
              <a:ln w="9525" cap="flat">
                <a:solidFill>
                  <a:srgbClr val="00BFAE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0.4</c:v>
                </c:pt>
                <c:pt idx="1">
                  <c:v>0.48</c:v>
                </c:pt>
                <c:pt idx="2">
                  <c:v>0.55000000000000004</c:v>
                </c:pt>
                <c:pt idx="3">
                  <c:v>0.65</c:v>
                </c:pt>
                <c:pt idx="4">
                  <c:v>0.72</c:v>
                </c:pt>
                <c:pt idx="5">
                  <c:v>0.85</c:v>
                </c:pt>
                <c:pt idx="6">
                  <c:v>1</c:v>
                </c:pt>
                <c:pt idx="7">
                  <c:v>1.35</c:v>
                </c:pt>
                <c:pt idx="8">
                  <c:v>1.1000000000000001</c:v>
                </c:pt>
                <c:pt idx="9">
                  <c:v>1.55</c:v>
                </c:pt>
                <c:pt idx="10">
                  <c:v>2.4</c:v>
                </c:pt>
                <c:pt idx="11">
                  <c:v>5.2</c:v>
                </c:pt>
                <c:pt idx="12">
                  <c:v>8.5</c:v>
                </c:pt>
                <c:pt idx="13">
                  <c:v>13</c:v>
                </c:pt>
                <c:pt idx="14">
                  <c:v>18.5</c:v>
                </c:pt>
                <c:pt idx="15">
                  <c:v>22</c:v>
                </c:pt>
                <c:pt idx="16">
                  <c:v>26.5</c:v>
                </c:pt>
                <c:pt idx="17">
                  <c:v>31</c:v>
                </c:pt>
                <c:pt idx="18">
                  <c:v>36</c:v>
                </c:pt>
                <c:pt idx="19">
                  <c:v>40.5</c:v>
                </c:pt>
                <c:pt idx="20">
                  <c:v>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3A8-4FC2-9F2A-7011DD674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PPG Bilateral Lending (USD Billion)</c:v>
                </c:pt>
              </c:strCache>
            </c:strRef>
          </c:tx>
          <c:spPr>
            <a:solidFill>
              <a:srgbClr val="3A7BD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A6-45AC-BF33-DA4E48BA09B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A6-45AC-BF33-DA4E48BA09B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A6-45AC-BF33-DA4E48BA09BE}"/>
              </c:ext>
            </c:extLst>
          </c:dPt>
          <c:dPt>
            <c:idx val="3"/>
            <c:invertIfNegative val="0"/>
            <c:bubble3D val="0"/>
            <c:spPr>
              <a:solidFill>
                <a:srgbClr val="3A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A6-45AC-BF33-DA4E48BA09BE}"/>
              </c:ext>
            </c:extLst>
          </c:dPt>
          <c:dPt>
            <c:idx val="4"/>
            <c:invertIfNegative val="0"/>
            <c:bubble3D val="0"/>
            <c:spPr>
              <a:solidFill>
                <a:srgbClr val="00BF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2A6-45AC-BF33-DA4E48BA09BE}"/>
              </c:ext>
            </c:extLst>
          </c:dPt>
          <c:dPt>
            <c:idx val="5"/>
            <c:invertIfNegative val="0"/>
            <c:bubble3D val="0"/>
            <c:spPr>
              <a:solidFill>
                <a:srgbClr val="F4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2A6-45AC-BF33-DA4E48BA09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Nepal</c:v>
                </c:pt>
                <c:pt idx="1">
                  <c:v>Maldives</c:v>
                </c:pt>
                <c:pt idx="2">
                  <c:v>Myanmar</c:v>
                </c:pt>
                <c:pt idx="3">
                  <c:v>Bangladesh</c:v>
                </c:pt>
                <c:pt idx="4">
                  <c:v>Sri Lanka</c:v>
                </c:pt>
                <c:pt idx="5">
                  <c:v>Bhutan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0.09</c:v>
                </c:pt>
                <c:pt idx="1">
                  <c:v>1.8</c:v>
                </c:pt>
                <c:pt idx="2">
                  <c:v>2.8</c:v>
                </c:pt>
                <c:pt idx="3">
                  <c:v>6</c:v>
                </c:pt>
                <c:pt idx="4">
                  <c:v>9.5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2A6-45AC-BF33-DA4E48BA09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D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4E5F5"/>
              </a:solidFill>
              <a:prstDash val="solid"/>
              <a:round/>
            </a:ln>
          </c:spPr>
        </c:majorGridlines>
        <c:numFmt formatCode="\$#,##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Average PPG (USD Billion)</c:v>
                </c:pt>
              </c:strCache>
            </c:strRef>
          </c:tx>
          <c:spPr>
            <a:solidFill>
              <a:srgbClr val="3A7BD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297-4F25-80A8-0DF4ADE4B38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297-4F25-80A8-0DF4ADE4B38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297-4F25-80A8-0DF4ADE4B38F}"/>
              </c:ext>
            </c:extLst>
          </c:dPt>
          <c:dPt>
            <c:idx val="3"/>
            <c:invertIfNegative val="0"/>
            <c:bubble3D val="0"/>
            <c:spPr>
              <a:solidFill>
                <a:srgbClr val="3A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97-4F25-80A8-0DF4ADE4B38F}"/>
              </c:ext>
            </c:extLst>
          </c:dPt>
          <c:dPt>
            <c:idx val="4"/>
            <c:invertIfNegative val="0"/>
            <c:bubble3D val="0"/>
            <c:spPr>
              <a:solidFill>
                <a:srgbClr val="00BF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297-4F25-80A8-0DF4ADE4B38F}"/>
              </c:ext>
            </c:extLst>
          </c:dPt>
          <c:dPt>
            <c:idx val="5"/>
            <c:invertIfNegative val="0"/>
            <c:bubble3D val="0"/>
            <c:spPr>
              <a:solidFill>
                <a:srgbClr val="F4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297-4F25-80A8-0DF4ADE4B3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Nepal</c:v>
                </c:pt>
                <c:pt idx="1">
                  <c:v>Maldives</c:v>
                </c:pt>
                <c:pt idx="2">
                  <c:v>Myanmar</c:v>
                </c:pt>
                <c:pt idx="3">
                  <c:v>Bangladesh</c:v>
                </c:pt>
                <c:pt idx="4">
                  <c:v>Sri Lanka</c:v>
                </c:pt>
                <c:pt idx="5">
                  <c:v>Bhutan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4.4999999999999997E-3</c:v>
                </c:pt>
                <c:pt idx="1">
                  <c:v>0.09</c:v>
                </c:pt>
                <c:pt idx="2">
                  <c:v>0.14000000000000001</c:v>
                </c:pt>
                <c:pt idx="3">
                  <c:v>0.3</c:v>
                </c:pt>
                <c:pt idx="4">
                  <c:v>0.47499999999999998</c:v>
                </c:pt>
                <c:pt idx="5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297-4F25-80A8-0DF4ADE4B3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D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4E5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Bangladesh Bilateral Lending (USD Billion)</c:v>
                </c:pt>
              </c:strCache>
            </c:strRef>
          </c:tx>
          <c:spPr>
            <a:ln w="38100" cap="flat">
              <a:solidFill>
                <a:srgbClr val="3A9BD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A9BD5"/>
              </a:solidFill>
              <a:ln w="9525" cap="flat">
                <a:solidFill>
                  <a:srgbClr val="3A9BD5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0.05</c:v>
                </c:pt>
                <c:pt idx="1">
                  <c:v>7.0000000000000007E-2</c:v>
                </c:pt>
                <c:pt idx="2">
                  <c:v>0.08</c:v>
                </c:pt>
                <c:pt idx="3">
                  <c:v>0.1</c:v>
                </c:pt>
                <c:pt idx="4">
                  <c:v>0.08</c:v>
                </c:pt>
                <c:pt idx="5">
                  <c:v>0.2</c:v>
                </c:pt>
                <c:pt idx="6">
                  <c:v>0.8</c:v>
                </c:pt>
                <c:pt idx="7">
                  <c:v>1.4</c:v>
                </c:pt>
                <c:pt idx="8">
                  <c:v>1.6</c:v>
                </c:pt>
                <c:pt idx="9">
                  <c:v>1.7</c:v>
                </c:pt>
                <c:pt idx="10">
                  <c:v>1.8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357-41F7-98C4-BD74943CA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Bhutan Bilateral Lending (USD Billion)</c:v>
                </c:pt>
              </c:strCache>
            </c:strRef>
          </c:tx>
          <c:spPr>
            <a:ln w="38100" cap="flat">
              <a:solidFill>
                <a:srgbClr val="F4B9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B942"/>
              </a:solidFill>
              <a:ln w="9525" cap="flat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0.9</c:v>
                </c:pt>
                <c:pt idx="5">
                  <c:v>1.5</c:v>
                </c:pt>
                <c:pt idx="6">
                  <c:v>2.5</c:v>
                </c:pt>
                <c:pt idx="7">
                  <c:v>5</c:v>
                </c:pt>
                <c:pt idx="8">
                  <c:v>8</c:v>
                </c:pt>
                <c:pt idx="9">
                  <c:v>13</c:v>
                </c:pt>
                <c:pt idx="10">
                  <c:v>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B61-46CE-B294-E9C17355EC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Sri Lanka Bilateral Lending (USD Billion)</c:v>
                </c:pt>
              </c:strCache>
            </c:strRef>
          </c:tx>
          <c:spPr>
            <a:ln w="38100" cap="flat">
              <a:solidFill>
                <a:srgbClr val="00BFA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FAE"/>
              </a:solidFill>
              <a:ln w="9525" cap="flat">
                <a:solidFill>
                  <a:srgbClr val="00BFAE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0.05</c:v>
                </c:pt>
                <c:pt idx="1">
                  <c:v>7.0000000000000007E-2</c:v>
                </c:pt>
                <c:pt idx="2">
                  <c:v>0.08</c:v>
                </c:pt>
                <c:pt idx="3">
                  <c:v>0.1</c:v>
                </c:pt>
                <c:pt idx="4">
                  <c:v>0.12</c:v>
                </c:pt>
                <c:pt idx="5">
                  <c:v>0.3</c:v>
                </c:pt>
                <c:pt idx="6">
                  <c:v>2</c:v>
                </c:pt>
                <c:pt idx="7">
                  <c:v>5.5</c:v>
                </c:pt>
                <c:pt idx="8">
                  <c:v>7.5</c:v>
                </c:pt>
                <c:pt idx="9">
                  <c:v>9</c:v>
                </c:pt>
                <c:pt idx="10">
                  <c:v>9.5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3E5-4BA7-88F7-D219655DC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Maldives Bilateral Lending (USD Billion)</c:v>
                </c:pt>
              </c:strCache>
            </c:strRef>
          </c:tx>
          <c:spPr>
            <a:ln w="38100" cap="flat">
              <a:solidFill>
                <a:srgbClr val="7B68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B68EE"/>
              </a:solidFill>
              <a:ln w="9525" cap="flat">
                <a:solidFill>
                  <a:srgbClr val="7B68EE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0.15</c:v>
                </c:pt>
                <c:pt idx="6">
                  <c:v>0.35</c:v>
                </c:pt>
                <c:pt idx="7">
                  <c:v>0.55000000000000004</c:v>
                </c:pt>
                <c:pt idx="8">
                  <c:v>0.75</c:v>
                </c:pt>
                <c:pt idx="9">
                  <c:v>1</c:v>
                </c:pt>
                <c:pt idx="10">
                  <c:v>1.8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AA6-4693-974A-006C0F971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Myanmar Bilateral Lending (USD Billion)</c:v>
                </c:pt>
              </c:strCache>
            </c:strRef>
          </c:tx>
          <c:spPr>
            <a:ln w="38100" cap="flat">
              <a:solidFill>
                <a:srgbClr val="E8A8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838"/>
              </a:solidFill>
              <a:ln w="9525" cap="flat">
                <a:solidFill>
                  <a:srgbClr val="E8A83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0.05</c:v>
                </c:pt>
                <c:pt idx="1">
                  <c:v>0.1</c:v>
                </c:pt>
                <c:pt idx="2">
                  <c:v>0.15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0.9</c:v>
                </c:pt>
                <c:pt idx="7">
                  <c:v>1.4</c:v>
                </c:pt>
                <c:pt idx="8">
                  <c:v>1.3</c:v>
                </c:pt>
                <c:pt idx="9">
                  <c:v>2</c:v>
                </c:pt>
                <c:pt idx="10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BB4-4040-A106-AB1D0D5665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Nepal Bilateral Lending (USD Billion)</c:v>
                </c:pt>
              </c:strCache>
            </c:strRef>
          </c:tx>
          <c:spPr>
            <a:ln w="38100" cap="flat">
              <a:solidFill>
                <a:srgbClr val="E05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C5C"/>
              </a:solidFill>
              <a:ln w="9525" cap="flat">
                <a:solidFill>
                  <a:srgbClr val="E05C5C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1E-3</c:v>
                </c:pt>
                <c:pt idx="1">
                  <c:v>2E-3</c:v>
                </c:pt>
                <c:pt idx="2">
                  <c:v>3.0000000000000001E-3</c:v>
                </c:pt>
                <c:pt idx="3">
                  <c:v>4.0000000000000001E-3</c:v>
                </c:pt>
                <c:pt idx="4">
                  <c:v>4.0000000000000001E-3</c:v>
                </c:pt>
                <c:pt idx="5">
                  <c:v>0.01</c:v>
                </c:pt>
                <c:pt idx="6">
                  <c:v>0.02</c:v>
                </c:pt>
                <c:pt idx="7">
                  <c:v>0.03</c:v>
                </c:pt>
                <c:pt idx="8">
                  <c:v>4.4999999999999998E-2</c:v>
                </c:pt>
                <c:pt idx="9">
                  <c:v>7.0000000000000007E-2</c:v>
                </c:pt>
                <c:pt idx="10">
                  <c:v>0.09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D42-44EF-8D63-B5C4F4F91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491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66928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BILATERAL DEBT ANALYSIS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&amp;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Debt Stats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Bilateral Lending  |  2000 – 2020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Publicly Guaranteed External Debt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South Asian Neighboring Countries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401568"/>
            <a:ext cx="4114800" cy="0"/>
          </a:xfrm>
          <a:prstGeom prst="line">
            <a:avLst/>
          </a:prstGeom>
          <a:noFill/>
          <a:ln w="12700">
            <a:solidFill>
              <a:srgbClr val="1E57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463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F"/>
                </a:solidFill>
              </a:rPr>
              <a:t> 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788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01168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14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9BBF"/>
                </a:solidFill>
              </a:rPr>
              <a:t>Data Source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2788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5F5"/>
                </a:solidFill>
              </a:rPr>
              <a:t>World Bank Open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201168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3375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9BBF"/>
                </a:solidFill>
              </a:rPr>
              <a:t>Coverage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3611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4E5F5"/>
                </a:solidFill>
              </a:rPr>
              <a:t>6 Countries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4E5F5"/>
                </a:solidFill>
              </a:rPr>
              <a:t>20 Years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5669280" cy="54864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DEFINITION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PPG Bilateral Debt?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120640" cy="16916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169164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3444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AF0F7"/>
                </a:solidFill>
              </a:rPr>
              <a:t>Public &amp; Publicly Guaranteed (PPG) debt comprises long-term external obligations of public debtors — including debt guaranteed by the national government, Public Corporations, State Owned Enterprises, Development Banks, and private debtors with public guarantees.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46888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26080"/>
            <a:ext cx="64008" cy="10058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</a:rPr>
              <a:t>Creditworthiness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3291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External indebtedness directly affects a country's creditworthiness and investor perceptions.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2926080"/>
            <a:ext cx="246888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2926080"/>
            <a:ext cx="64008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</a:rPr>
              <a:t>Debt Servicing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3291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Total debt service is measured against forex earnings from exports, services, and worker remittances.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1143000"/>
            <a:ext cx="2926080" cy="27889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9788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942"/>
                </a:solidFill>
              </a:rPr>
              <a:t>Countries Covered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7880" y="1572768"/>
            <a:ext cx="256032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6642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7"/>
                </a:solidFill>
              </a:rPr>
              <a:t>🇧🇩  Bangladesh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35240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FAE"/>
                </a:solidFill>
              </a:rPr>
              <a:t>$6 Bn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7"/>
                </a:solidFill>
              </a:rPr>
              <a:t>🇧🇹  Bhutan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35240" y="2011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FAE"/>
                </a:solidFill>
              </a:rPr>
              <a:t>$18 Bn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97880" y="23591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7"/>
                </a:solidFill>
              </a:rPr>
              <a:t>🇱🇰  Sri Lanka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23591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FAE"/>
                </a:solidFill>
              </a:rPr>
              <a:t>$9.5 Bn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27066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7"/>
                </a:solidFill>
              </a:rPr>
              <a:t>🇲🇻  Maldives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27066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FAE"/>
                </a:solidFill>
              </a:rPr>
              <a:t>$1.8 Bn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30540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7"/>
                </a:solidFill>
              </a:rPr>
              <a:t>🇲🇲  Myanmar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35240" y="30540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FAE"/>
                </a:solidFill>
              </a:rPr>
              <a:t>$2.8 Bn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4015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7"/>
                </a:solidFill>
              </a:rPr>
              <a:t>🇳🇵  Nepal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34015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FAE"/>
                </a:solidFill>
              </a:rPr>
              <a:t>$90 Mn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F"/>
                </a:solidFill>
              </a:rPr>
              <a:t>Period: 2000 – 2020  |  Source: World Bank IDS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OVERALL TREND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Bilateral Lending  2000 – 2020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05840"/>
          <a:ext cx="6217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12280" y="1005840"/>
            <a:ext cx="2148840" cy="82296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12280" y="1005840"/>
            <a:ext cx="64008" cy="82296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1042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E"/>
                </a:solidFill>
              </a:rPr>
              <a:t>$45 Bn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95160" y="1408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</a:rPr>
              <a:t>Total by 2020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12280" y="1965960"/>
            <a:ext cx="2148840" cy="82296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12280" y="1965960"/>
            <a:ext cx="64008" cy="82296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95160" y="20025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5C"/>
                </a:solidFill>
              </a:rPr>
              <a:t>2008 Drop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95160" y="2368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</a:rPr>
              <a:t>Global Financial Crisis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12280" y="2926080"/>
            <a:ext cx="2148840" cy="82296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12280" y="2926080"/>
            <a:ext cx="64008" cy="822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95160" y="29626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942"/>
                </a:solidFill>
              </a:rPr>
              <a:t>90x Growth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95160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</a:rPr>
              <a:t>2000 → 2020 Surge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831336"/>
            <a:ext cx="128016" cy="12801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" y="3749040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7"/>
                </a:solidFill>
              </a:rPr>
              <a:t>2000–2007: Minimal YoY growth, steady climb below $1.5 Bn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398264"/>
            <a:ext cx="128016" cy="12801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4315968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7"/>
                </a:solidFill>
              </a:rPr>
              <a:t>2008: Dip in lending due to global Economic Crisis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965192"/>
            <a:ext cx="128016" cy="12801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" y="4882896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7"/>
                </a:solidFill>
              </a:rPr>
              <a:t>2010 onwards: Maximum YoY growth, accelerating to $45 Bn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COUNTRY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 by Country  (2000 – 2020)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0584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188720"/>
            <a:ext cx="274320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1188720"/>
            <a:ext cx="64008" cy="9601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1261872"/>
            <a:ext cx="25603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B942"/>
                </a:solidFill>
              </a:rPr>
              <a:t>$18 Bn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26480" y="1764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Bhutan — Highest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9320" y="2377440"/>
            <a:ext cx="274320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377440"/>
            <a:ext cx="64008" cy="96012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450592"/>
            <a:ext cx="25603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E"/>
                </a:solidFill>
              </a:rPr>
              <a:t>$45 Bn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126480" y="29535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India Total Lending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9320" y="3566160"/>
            <a:ext cx="274320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89320" y="3566160"/>
            <a:ext cx="64008" cy="9601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639312"/>
            <a:ext cx="25603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A9BBF"/>
                </a:solidFill>
              </a:rPr>
              <a:t>$90 Mn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126480" y="41422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Nepal — Lowest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BBF"/>
                </a:solidFill>
              </a:rPr>
              <a:t>* Values in USD Billion  |  Source: World Bank IDS 2000–2020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ANNUAL AVERAGE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Debt per Country  (Annual, 20 Years)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0584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188720"/>
            <a:ext cx="274320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1188720"/>
            <a:ext cx="64008" cy="9601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1261872"/>
            <a:ext cx="25603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B942"/>
                </a:solidFill>
              </a:rPr>
              <a:t>$3.5 Bn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26480" y="1764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Bhutan Avg / Year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9320" y="2377440"/>
            <a:ext cx="274320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377440"/>
            <a:ext cx="64008" cy="96012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450592"/>
            <a:ext cx="25603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E"/>
                </a:solidFill>
              </a:rPr>
              <a:t>$13 Bn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126480" y="29535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India Avg / Year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9320" y="3566160"/>
            <a:ext cx="274320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89320" y="3566160"/>
            <a:ext cx="64008" cy="9601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639312"/>
            <a:ext cx="25603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A9BBF"/>
                </a:solidFill>
              </a:rPr>
              <a:t>$250 Mn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126480" y="41422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Nepal Avg / Year (Min)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BBF"/>
                </a:solidFill>
              </a:rPr>
              <a:t>* Values in USD Billion  |  Averages computed over 20-year period (2000–2020)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INDIA – BANGLADESH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– Bangladesh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7A9BBF"/>
                </a:solidFill>
              </a:rPr>
              <a:t>PPG Bilateral Lending  2000 – 2020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3444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234440"/>
            <a:ext cx="256032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234440"/>
            <a:ext cx="64008" cy="1005840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307592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9BD5"/>
                </a:solidFill>
              </a:rPr>
              <a:t>$6 Bn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46520" y="18379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Bilateral Lending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9360" y="2377440"/>
            <a:ext cx="2560320" cy="2148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9BD5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743200"/>
            <a:ext cx="219456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2907792"/>
            <a:ext cx="109728" cy="109728"/>
          </a:xfrm>
          <a:prstGeom prst="ellipse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28163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Total debt: approx. $6 billion USD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3429000"/>
            <a:ext cx="109728" cy="109728"/>
          </a:xfrm>
          <a:prstGeom prst="ellipse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3337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Lending dramatically increased after 2010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46520" y="3950208"/>
            <a:ext cx="109728" cy="109728"/>
          </a:xfrm>
          <a:prstGeom prst="ellipse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38587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Growth slowed again between 2012 – 2015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INDIA – BHUTAN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– Bhutan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7A9BBF"/>
                </a:solidFill>
              </a:rPr>
              <a:t>PPG Bilateral Lending  2000 – 2020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3444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234440"/>
            <a:ext cx="256032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234440"/>
            <a:ext cx="64008" cy="10058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307592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B942"/>
                </a:solidFill>
              </a:rPr>
              <a:t>$18 Bn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46520" y="18379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Bilateral Lending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9360" y="2377440"/>
            <a:ext cx="2560320" cy="2148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743200"/>
            <a:ext cx="219456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2907792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28163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Total debt: approx. $18 billion USD — highest among neighbours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3429000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3337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Bilateral lending steadily increased over 20 years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46520" y="3950208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38587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Largest single recipient of India's bilateral loans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INDIA – SRI LANKA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– Sri Lanka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7A9BBF"/>
                </a:solidFill>
              </a:rPr>
              <a:t>PPG Bilateral Lending  2000 – 2020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3444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234440"/>
            <a:ext cx="256032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234440"/>
            <a:ext cx="64008" cy="100584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307592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E"/>
                </a:solidFill>
              </a:rPr>
              <a:t>$9.5 Bn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46520" y="18379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Bilateral Lending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9360" y="2377440"/>
            <a:ext cx="2560320" cy="2148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E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743200"/>
            <a:ext cx="219456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2907792"/>
            <a:ext cx="109728" cy="10972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28163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Total debt: approx. $9.5 billion USD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3429000"/>
            <a:ext cx="109728" cy="10972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3337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Lending rapidly increased during 2010 – 2015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46520" y="3950208"/>
            <a:ext cx="109728" cy="10972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38587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Lending stabilized and remained constant till 2020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INDIA – MALDIVES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– Maldives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7A9BBF"/>
                </a:solidFill>
              </a:rPr>
              <a:t>PPG Bilateral Lending  2000 – 2020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3444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234440"/>
            <a:ext cx="256032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234440"/>
            <a:ext cx="64008" cy="10058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307592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68EE"/>
                </a:solidFill>
              </a:rPr>
              <a:t>$1.8 Bn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46520" y="18379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Bilateral Lending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9360" y="2377440"/>
            <a:ext cx="2560320" cy="2148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8EE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743200"/>
            <a:ext cx="219456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2907792"/>
            <a:ext cx="109728" cy="109728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28163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Total debt: approx. $1.8 billion USD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3429000"/>
            <a:ext cx="109728" cy="109728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3337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Lending rapidly increased after 2008 crisis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46520" y="3950208"/>
            <a:ext cx="109728" cy="109728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38587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Huge spike in 2020 — significant jump in disbursements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INDIA – MYANMAR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– Myanmar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7A9BBF"/>
                </a:solidFill>
              </a:rPr>
              <a:t>PPG Bilateral Lending  2000 – 2020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3444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234440"/>
            <a:ext cx="256032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234440"/>
            <a:ext cx="64008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307592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838"/>
                </a:solidFill>
              </a:rPr>
              <a:t>$2.8 Bn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46520" y="18379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Bilateral Lending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9360" y="2377440"/>
            <a:ext cx="2560320" cy="2148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743200"/>
            <a:ext cx="219456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2907792"/>
            <a:ext cx="109728" cy="1097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28163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Total debt: approx. $2.8 billion USD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3429000"/>
            <a:ext cx="109728" cy="1097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3337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Lending steadily increased since 2000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46520" y="3950208"/>
            <a:ext cx="109728" cy="1097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38587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Small dip recorded during 2015 – 2017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INDIA – NEPAL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– Nepal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7A9BBF"/>
                </a:solidFill>
              </a:rPr>
              <a:t>PPG Bilateral Lending  2000 – 2020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3444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234440"/>
            <a:ext cx="256032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234440"/>
            <a:ext cx="64008" cy="10058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307592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5C5C"/>
                </a:solidFill>
              </a:rPr>
              <a:t>$90 Mn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46520" y="18379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Bilateral Lending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9360" y="2377440"/>
            <a:ext cx="2560320" cy="214884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743200"/>
            <a:ext cx="2194560" cy="0"/>
          </a:xfrm>
          <a:prstGeom prst="line">
            <a:avLst/>
          </a:prstGeom>
          <a:noFill/>
          <a:ln w="6350">
            <a:solidFill>
              <a:srgbClr val="1E57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2907792"/>
            <a:ext cx="109728" cy="109728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28163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Total debt: approx. $90 million USD — lowest among neighbours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3429000"/>
            <a:ext cx="109728" cy="109728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3337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Lending rapidly increased after 2008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46520" y="3950208"/>
            <a:ext cx="109728" cy="109728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38587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5F5"/>
                </a:solidFill>
              </a:rPr>
              <a:t>Smallest bilateral lending recipient overall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1628"/>
                </a:solidFill>
              </a:rPr>
              <a:t>CONCLUSION &amp; KEY TAKEAWAYS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353312"/>
            <a:ext cx="457200" cy="457200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17043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AF0F7"/>
                </a:solidFill>
              </a:rPr>
              <a:t>Total PPG Bilateral Lending grew from less than $500 Mn in 2000 to ~$45 Bn in 2020 — a 90× increase.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93192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450592"/>
            <a:ext cx="457200" cy="4572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26771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AF0F7"/>
                </a:solidFill>
              </a:rPr>
              <a:t>Bhutan was the biggest debtor nation, receiving almost $18 Bn over 20 years.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93192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547872"/>
            <a:ext cx="457200" cy="457200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AF0F7"/>
                </a:solidFill>
              </a:rPr>
              <a:t>Nepal received the least bilateral lending — under $1 Bn in 20 years.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393192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1353312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117043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AF0F7"/>
                </a:solidFill>
              </a:rPr>
              <a:t>Total bilateral lending shows a consistent positive growth rate over the last 20 years.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194560"/>
            <a:ext cx="393192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2450592"/>
            <a:ext cx="457200" cy="457200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226771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AF0F7"/>
                </a:solidFill>
              </a:rPr>
              <a:t>India's bilateral lending to neighbours equals approx. 1.2% of India's overall GDP.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3291840"/>
            <a:ext cx="3931920" cy="960120"/>
          </a:xfrm>
          <a:prstGeom prst="rect">
            <a:avLst/>
          </a:prstGeom>
          <a:solidFill>
            <a:srgbClr val="1A3050"/>
          </a:solidFill>
          <a:ln w="6350">
            <a:solidFill>
              <a:srgbClr val="1E579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56048" y="3547872"/>
            <a:ext cx="457200" cy="457200"/>
          </a:xfrm>
          <a:prstGeom prst="ellipse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336499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AF0F7"/>
                </a:solidFill>
              </a:rPr>
              <a:t>Risk exposure is low: even in a default scenario, impact on India's financial sector would be minimal.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9BBF"/>
                </a:solidFill>
              </a:rPr>
              <a:t>Data Source: World Bank IDS  |  Analysis by Abhijeet Patil  |  Period: 2000 – 2020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718</Words>
  <Application>Microsoft Office PowerPoint</Application>
  <PresentationFormat>On-screen Show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PPG Bilateral Debt Analysis</dc:title>
  <dc:subject>PptxGenJS Presentation</dc:subject>
  <dc:creator>PptxGenJS</dc:creator>
  <cp:lastModifiedBy>Dev pratap</cp:lastModifiedBy>
  <cp:revision>2</cp:revision>
  <dcterms:created xsi:type="dcterms:W3CDTF">2026-05-21T09:59:59Z</dcterms:created>
  <dcterms:modified xsi:type="dcterms:W3CDTF">2026-05-21T10:36:16Z</dcterms:modified>
</cp:coreProperties>
</file>